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" dirty="0">
                <a:solidFill>
                  <a:srgbClr val="7B8B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380" dirty="0"/>
          </a:p>
        </p:txBody>
      </p:sp>
      <p:sp>
        <p:nvSpPr>
          <p:cNvPr id="5" name="Text 3"/>
          <p:cNvSpPr/>
          <p:nvPr/>
        </p:nvSpPr>
        <p:spPr>
          <a:xfrm>
            <a:off x="530225" y="713105"/>
            <a:ext cx="43065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流量分析业务系统</a:t>
            </a:r>
            <a:endParaRPr lang="en-US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5492" y="1227582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从安全事件发现到多 Agent 智能研判闭环</a:t>
            </a:r>
            <a:endParaRPr lang="en-US" sz="155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375" y="2956560"/>
            <a:ext cx="4646295" cy="1764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indent="457200" fontAlgn="auto">
              <a:spcAft>
                <a:spcPts val="600"/>
              </a:spcAft>
              <a:buNone/>
            </a:pPr>
            <a:r>
              <a:rPr lang="en-US" sz="16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本系统围绕流量侧安全事件，构建“事件进入、上下文补全、智能研判、证据归纳、报告生成”的完整闭环。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fontAlgn="auto">
              <a:spcAft>
                <a:spcPts val="600"/>
              </a:spcAft>
              <a:buNone/>
            </a:pPr>
            <a:r>
              <a:rPr lang="en-US" sz="16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系统目标不是简单展示告警，而是将安全专家的分析方法沉淀为可复用、可追踪、可审计的智能分析流程。</a:t>
            </a:r>
            <a:endParaRPr lang="en-US" sz="16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84645" y="1937385"/>
            <a:ext cx="1386840" cy="427355"/>
          </a:xfrm>
          <a:prstGeom prst="rect">
            <a:avLst/>
          </a:prstGeom>
          <a:solidFill>
            <a:srgbClr val="0B5BD3"/>
          </a:solidFill>
          <a:ln w="8890">
            <a:solidFill>
              <a:srgbClr val="0B5BD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安全事件闭环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11515" y="1097915"/>
            <a:ext cx="1709420" cy="427355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 Agent 自动驾驶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84945" y="2701290"/>
            <a:ext cx="1733550" cy="427355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上下文驱动研判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83095" y="3625215"/>
            <a:ext cx="1410970" cy="427355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证据链沉淀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09685" y="4485005"/>
            <a:ext cx="1506220" cy="427355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自动报告生成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" dirty="0">
                <a:solidFill>
                  <a:srgbClr val="7B8B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380" dirty="0"/>
          </a:p>
        </p:txBody>
      </p:sp>
      <p:sp>
        <p:nvSpPr>
          <p:cNvPr id="5" name="Text 3"/>
          <p:cNvSpPr/>
          <p:nvPr/>
        </p:nvSpPr>
        <p:spPr>
          <a:xfrm>
            <a:off x="512064" y="310896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传统安全分析面临的问题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98448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安全事件不是缺少告警，而是缺少高质量研判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1417320" cy="47548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问题</a:t>
            </a:r>
            <a:endParaRPr lang="en-US" sz="1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84248" y="1783080"/>
            <a:ext cx="2743200" cy="47548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传统方式表现</a:t>
            </a:r>
            <a:endParaRPr lang="en-US" sz="1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27448" y="1783080"/>
            <a:ext cx="2971800" cy="47548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直接影响</a:t>
            </a:r>
            <a:endParaRPr lang="en-US" sz="12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2258568"/>
            <a:ext cx="14173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告警碎片化</a:t>
            </a:r>
            <a:endParaRPr lang="en-US" sz="12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84248" y="2258568"/>
            <a:ext cx="27432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多系统各自告警，信息分散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27448" y="2258568"/>
            <a:ext cx="29718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分析人员手工拼接上下文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928" y="2734056"/>
            <a:ext cx="141732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依赖专家经验</a:t>
            </a:r>
            <a:endParaRPr lang="en-US" sz="12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84248" y="2734056"/>
            <a:ext cx="274320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处置路径取决于个人能力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27448" y="2734056"/>
            <a:ext cx="297180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新人难上手，质量不稳定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" y="3209544"/>
            <a:ext cx="14173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过程不可复盘</a:t>
            </a:r>
            <a:endParaRPr lang="en-US" sz="12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84248" y="3209544"/>
            <a:ext cx="27432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判断散落在聊天或口头结论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27448" y="3209544"/>
            <a:ext cx="29718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难审计、难复用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928" y="3685032"/>
            <a:ext cx="141732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报告成本高</a:t>
            </a:r>
            <a:endParaRPr lang="en-US" sz="12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984248" y="3685032"/>
            <a:ext cx="274320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事件结束后再人工整理材料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27448" y="3685032"/>
            <a:ext cx="297180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汇报慢，格式不统一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14173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响应链路长</a:t>
            </a:r>
            <a:endParaRPr lang="en-US" sz="12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984248" y="4160520"/>
            <a:ext cx="27432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查资产、查情报、查日志都靠人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27448" y="4160520"/>
            <a:ext cx="297180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影响事件响应效率</a:t>
            </a:r>
            <a:endParaRPr lang="en-US" sz="12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955280" y="1847088"/>
            <a:ext cx="3566160" cy="2084832"/>
          </a:xfrm>
          <a:prstGeom prst="roundRect">
            <a:avLst>
              <a:gd name="adj" fmla="val 3509"/>
            </a:avLst>
          </a:prstGeom>
          <a:solidFill>
            <a:srgbClr val="F7FB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01584" y="1975104"/>
            <a:ext cx="32735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建设目标</a:t>
            </a:r>
            <a:endParaRPr lang="en-US" sz="1600" b="1" dirty="0">
              <a:solidFill>
                <a:srgbClr val="0B5BD3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01584" y="2276856"/>
            <a:ext cx="3273552" cy="1554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457200">
              <a:buNone/>
            </a:pPr>
            <a:endParaRPr lang="en-US" sz="1400" dirty="0">
              <a:solidFill>
                <a:srgbClr val="27364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45720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把一次安全事件分析，从“人找线索”转变为“系统组织线索、Agent 协同研判、结果自动沉淀”。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57530" y="5302885"/>
            <a:ext cx="10881360" cy="584835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核心诉求：让研判流程标准化、证据链可追溯、报告可自动交付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6547104"/>
            <a:ext cx="18288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" dirty="0">
                <a:solidFill>
                  <a:srgbClr val="7B8B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流量分析业务系统</a:t>
            </a:r>
            <a:endParaRPr lang="en-US" sz="370" dirty="0"/>
          </a:p>
        </p:txBody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" dirty="0">
                <a:solidFill>
                  <a:srgbClr val="7B8B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380" dirty="0"/>
          </a:p>
        </p:txBody>
      </p:sp>
      <p:sp>
        <p:nvSpPr>
          <p:cNvPr id="5" name="Text 3"/>
          <p:cNvSpPr/>
          <p:nvPr/>
        </p:nvSpPr>
        <p:spPr>
          <a:xfrm>
            <a:off x="567055" y="309880"/>
            <a:ext cx="5414010" cy="586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系统核心能力</a:t>
            </a:r>
            <a:endParaRPr lang="en-US" sz="2000" b="1" dirty="0">
              <a:solidFill>
                <a:srgbClr val="0B1F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96896" y="1746504"/>
            <a:ext cx="18288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9744" y="1746504"/>
            <a:ext cx="18288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22592" y="1746504"/>
            <a:ext cx="18288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235440" y="1746504"/>
            <a:ext cx="18288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66928" y="1463040"/>
            <a:ext cx="2029968" cy="56692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流量异常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形成事件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79776" y="1463040"/>
            <a:ext cx="2029968" cy="56692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上下文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自动补齐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92624" y="1463040"/>
            <a:ext cx="2029968" cy="56692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 Agent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协同研判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05472" y="1463040"/>
            <a:ext cx="2029968" cy="56692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证据归纳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形成总结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418320" y="1463040"/>
            <a:ext cx="2029968" cy="56692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报告交付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复盘沉淀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52448" y="2449703"/>
            <a:ext cx="1645920" cy="47548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能力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198368" y="2449703"/>
            <a:ext cx="3291840" cy="47548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说明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90208" y="2449703"/>
            <a:ext cx="3566160" cy="47548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价值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52448" y="2925191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事件标准化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198368" y="2925191"/>
            <a:ext cx="3291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将流量异常、告警信息整理成统一事件档案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90208" y="2925191"/>
            <a:ext cx="3566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解决告警碎片化问题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52448" y="3400679"/>
            <a:ext cx="164592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上下文补全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198368" y="3400679"/>
            <a:ext cx="329184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自动提取攻击源、受害资产、IP、域名、账号等对象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90208" y="3400679"/>
            <a:ext cx="356616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为后续研判提供基础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52448" y="3876167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自动驾驶分析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198368" y="3876167"/>
            <a:ext cx="3291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 Agent 完成任务规划、动作拆解、命令执行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90208" y="3876167"/>
            <a:ext cx="3566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降低人工分析成本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552448" y="4351655"/>
            <a:ext cx="164592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证据链沉淀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198368" y="4351655"/>
            <a:ext cx="329184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任务、动作、命令和结果全过程记录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90208" y="4351655"/>
            <a:ext cx="3566160" cy="47548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保证结论可追溯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52448" y="4827143"/>
            <a:ext cx="164592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报告生成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198368" y="4827143"/>
            <a:ext cx="329184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基于完整事件上下文生成安全分析报告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90208" y="4827143"/>
            <a:ext cx="3566160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提升汇报效率和一致性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6928" y="5961888"/>
            <a:ext cx="10881360" cy="292608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系统不是单点 AI 问答，而是把安全运营流程产品化、结构化、自动化。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" dirty="0">
                <a:solidFill>
                  <a:srgbClr val="7B8B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380" dirty="0"/>
          </a:p>
        </p:txBody>
      </p:sp>
      <p:sp>
        <p:nvSpPr>
          <p:cNvPr id="5" name="Text 3"/>
          <p:cNvSpPr/>
          <p:nvPr/>
        </p:nvSpPr>
        <p:spPr>
          <a:xfrm>
            <a:off x="567055" y="466090"/>
            <a:ext cx="5047615" cy="375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系统优势</a:t>
            </a:r>
            <a:endParaRPr lang="en-US" sz="2000" b="1" dirty="0">
              <a:solidFill>
                <a:srgbClr val="0B1F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44752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EEF6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554480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01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0432" y="1554480"/>
            <a:ext cx="17647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更快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86384" y="1874520"/>
            <a:ext cx="213055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事件创建后自动整理要素、识别关键对象，并启动自动驾驶分析流程。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29000" y="1444752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554480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02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59352" y="1554480"/>
            <a:ext cx="17647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更准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75304" y="1874520"/>
            <a:ext cx="213055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先围绕攻击源、受害资产、事件描述和执行结果形成证据，再生成风险判断。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1444752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554480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03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48272" y="1554480"/>
            <a:ext cx="17647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可追溯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64224" y="1874520"/>
            <a:ext cx="213055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任务、动作、命令到执行结果全部沉淀在事件档案中，便于复盘和审计。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06840" y="1444752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5712" y="1554480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04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37192" y="1554480"/>
            <a:ext cx="17647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可复用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53144" y="1874520"/>
            <a:ext cx="213055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专家经验通过 Agent 分工和任务链路沉淀为可复制的工作流程。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15968" y="3246120"/>
            <a:ext cx="3566160" cy="530352"/>
          </a:xfrm>
          <a:prstGeom prst="roundRect">
            <a:avLst>
              <a:gd name="adj" fmla="val 17241"/>
            </a:avLst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338328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智能分析闭环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1297305" y="4041140"/>
            <a:ext cx="8823960" cy="1736725"/>
            <a:chOff x="2043" y="6364"/>
            <a:chExt cx="13896" cy="2735"/>
          </a:xfrm>
        </p:grpSpPr>
        <p:sp>
          <p:nvSpPr>
            <p:cNvPr id="26" name="Text 24"/>
            <p:cNvSpPr/>
            <p:nvPr/>
          </p:nvSpPr>
          <p:spPr>
            <a:xfrm>
              <a:off x="2043" y="6364"/>
              <a:ext cx="1800" cy="547"/>
            </a:xfrm>
            <a:prstGeom prst="rect">
              <a:avLst/>
            </a:prstGeom>
            <a:solidFill>
              <a:srgbClr val="0B5BD3"/>
            </a:solidFill>
            <a:ln w="10160">
              <a:solidFill>
                <a:srgbClr val="0B5BD3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优势</a:t>
              </a:r>
              <a:endPara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3843" y="6364"/>
              <a:ext cx="6480" cy="547"/>
            </a:xfrm>
            <a:prstGeom prst="rect">
              <a:avLst/>
            </a:prstGeom>
            <a:solidFill>
              <a:srgbClr val="0B5BD3"/>
            </a:solidFill>
            <a:ln w="10160">
              <a:solidFill>
                <a:srgbClr val="0B5BD3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系统支撑</a:t>
              </a:r>
              <a:endPara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10323" y="6364"/>
              <a:ext cx="5616" cy="547"/>
            </a:xfrm>
            <a:prstGeom prst="rect">
              <a:avLst/>
            </a:prstGeom>
            <a:solidFill>
              <a:srgbClr val="0B5BD3"/>
            </a:solidFill>
            <a:ln w="10160">
              <a:solidFill>
                <a:srgbClr val="0B5BD3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可汇报价值</a:t>
              </a:r>
              <a:endPara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2043" y="6911"/>
              <a:ext cx="1800" cy="54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5BD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更快</a:t>
              </a:r>
              <a:endPara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3843" y="6911"/>
              <a:ext cx="6480" cy="54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7364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事件要素自动提取，自动进入分析任务链路</a:t>
              </a:r>
              <a:endPara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10323" y="6911"/>
              <a:ext cx="5616" cy="54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7364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缩短从告警到研判的时间</a:t>
              </a:r>
              <a:endPara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2043" y="7458"/>
              <a:ext cx="1800" cy="547"/>
            </a:xfrm>
            <a:prstGeom prst="rect">
              <a:avLst/>
            </a:prstGeom>
            <a:solidFill>
              <a:srgbClr val="F7FB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5BD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更准</a:t>
              </a:r>
              <a:endPara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3843" y="7458"/>
              <a:ext cx="6480" cy="547"/>
            </a:xfrm>
            <a:prstGeom prst="rect">
              <a:avLst/>
            </a:prstGeom>
            <a:solidFill>
              <a:srgbClr val="F7FB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7364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先查询证据，再生成风险判断与建议</a:t>
              </a:r>
              <a:endPara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323" y="7458"/>
              <a:ext cx="5616" cy="547"/>
            </a:xfrm>
            <a:prstGeom prst="rect">
              <a:avLst/>
            </a:prstGeom>
            <a:solidFill>
              <a:srgbClr val="F7FB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7364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减少主观经验偏差</a:t>
              </a:r>
              <a:endPara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2043" y="8005"/>
              <a:ext cx="1800" cy="54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5BD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可追溯</a:t>
              </a:r>
              <a:endPara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3843" y="8005"/>
              <a:ext cx="6480" cy="54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7364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任务、动作、命令、结果全部写入事件档案</a:t>
              </a:r>
              <a:endPara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10323" y="8005"/>
              <a:ext cx="5616" cy="547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7364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便于复盘、审计和交接</a:t>
              </a:r>
              <a:endPara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2043" y="8553"/>
              <a:ext cx="1800" cy="547"/>
            </a:xfrm>
            <a:prstGeom prst="rect">
              <a:avLst/>
            </a:prstGeom>
            <a:solidFill>
              <a:srgbClr val="F7FB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B5BD3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可复用</a:t>
              </a:r>
              <a:endPara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3843" y="8553"/>
              <a:ext cx="6480" cy="547"/>
            </a:xfrm>
            <a:prstGeom prst="rect">
              <a:avLst/>
            </a:prstGeom>
            <a:solidFill>
              <a:srgbClr val="F7FB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7364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Agent 分工与任务链路沉淀成标准流程</a:t>
              </a:r>
              <a:endPara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10323" y="8553"/>
              <a:ext cx="5616" cy="547"/>
            </a:xfrm>
            <a:prstGeom prst="rect">
              <a:avLst/>
            </a:prstGeom>
            <a:solidFill>
              <a:srgbClr val="F7FBFF"/>
            </a:solidFill>
            <a:ln w="7620">
              <a:solidFill>
                <a:srgbClr val="D9E7F7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27364A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Noto Sans CJK SC" pitchFamily="34" charset="-120"/>
                </a:rPr>
                <a:t>形成团队能力资产</a:t>
              </a:r>
              <a:endPara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endParaRPr>
            </a:p>
          </p:txBody>
        </p:sp>
      </p:grpSp>
      <p:sp>
        <p:nvSpPr>
          <p:cNvPr id="41" name="Text 39"/>
          <p:cNvSpPr/>
          <p:nvPr/>
        </p:nvSpPr>
        <p:spPr>
          <a:xfrm>
            <a:off x="566928" y="5989320"/>
            <a:ext cx="10881360" cy="292608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核心优势：让安全事件分析从“人工经验驱动”升级为“系统智能驱动”。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B8B9E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05</a:t>
            </a:r>
            <a:endParaRPr lang="en-US" sz="1400" dirty="0">
              <a:solidFill>
                <a:srgbClr val="7B8B9E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安全事件进入系统后的处理链路</a:t>
            </a:r>
            <a:endParaRPr lang="en-US" sz="2000" b="1" dirty="0">
              <a:solidFill>
                <a:srgbClr val="0B1F3A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先把“零散告警”整理成“可分析事件”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31086" y="2002536"/>
            <a:ext cx="10972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4972" y="2002536"/>
            <a:ext cx="10972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8858" y="2002536"/>
            <a:ext cx="10972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52744" y="2002536"/>
            <a:ext cx="10972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26630" y="2002536"/>
            <a:ext cx="10972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00516" y="2002536"/>
            <a:ext cx="10972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74402" y="2002536"/>
            <a:ext cx="10972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66928" y="1737360"/>
            <a:ext cx="1264158" cy="53035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流量异常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告警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940814" y="1737360"/>
            <a:ext cx="1264158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标准化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14700" y="1737360"/>
            <a:ext cx="1264158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提取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可观察对象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688586" y="1737360"/>
            <a:ext cx="1264158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生成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事件档案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62472" y="1737360"/>
            <a:ext cx="1264158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启动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自动驾驶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36358" y="1737360"/>
            <a:ext cx="1264158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任务 / 动作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810244" y="1737360"/>
            <a:ext cx="1264158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证据 / 总结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84130" y="1737360"/>
            <a:ext cx="1264158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分析报告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39518" y="2743200"/>
            <a:ext cx="1417320" cy="42976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阶段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6838" y="2743200"/>
            <a:ext cx="2880360" cy="42976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系统动作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198" y="2743200"/>
            <a:ext cx="2880360" cy="42976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形成结果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239518" y="3172968"/>
            <a:ext cx="14173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告警进入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56838" y="3172968"/>
            <a:ext cx="28803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接收流量异常或安全告警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37198" y="3172968"/>
            <a:ext cx="28803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原始事件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239518" y="3602736"/>
            <a:ext cx="141732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标准化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6838" y="3602736"/>
            <a:ext cx="288036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统一名称、来源、级别、状态、时间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37198" y="3602736"/>
            <a:ext cx="288036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标准事件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239518" y="4032504"/>
            <a:ext cx="14173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对象提取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56838" y="4032504"/>
            <a:ext cx="28803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提取攻击源、受害资产、IP、域名、账号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537198" y="4032504"/>
            <a:ext cx="28803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可观察对象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239518" y="4462272"/>
            <a:ext cx="141732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自动驾驶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656838" y="4462272"/>
            <a:ext cx="288036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启动多 Agent 分析链路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37198" y="4462272"/>
            <a:ext cx="288036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分析任务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239518" y="4892040"/>
            <a:ext cx="141732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工具执行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56838" y="4892040"/>
            <a:ext cx="28803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查询情报、资产、日志、流量等数据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537198" y="4892040"/>
            <a:ext cx="2880360" cy="429768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证据材料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2239518" y="5321808"/>
            <a:ext cx="141732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总结报告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656838" y="5321808"/>
            <a:ext cx="288036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归纳风险、影响和建议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537198" y="5321808"/>
            <a:ext cx="2880360" cy="429768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安全分析报告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66928" y="5989320"/>
            <a:ext cx="10881360" cy="292608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关键不是多展示几条告警，而是把告警变成可分析、可执行、可汇报的事件对象。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B8B9E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06</a:t>
            </a:r>
            <a:endParaRPr lang="en-US" sz="1400" dirty="0">
              <a:solidFill>
                <a:srgbClr val="7B8B9E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2064" y="310896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技术亮点</a:t>
            </a:r>
            <a:r>
              <a:rPr lang="zh-CN" alt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：</a:t>
            </a: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用工程化方式支撑智能安全分析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563" y="19329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435" y="2042668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1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24915" y="2042668"/>
            <a:ext cx="25877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事件上下文建模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0867" y="2362708"/>
            <a:ext cx="295351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统一建模事件基础信息、可观察对象、任务与执行结果，避免 AI 缺少上下文。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43603" y="19329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EF6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475" y="2042668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2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73955" y="2042668"/>
            <a:ext cx="25877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 Agent 分层协同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89907" y="2362708"/>
            <a:ext cx="295351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通过指挥、管理、操作、执行、专家角色拆解专家分析过程。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92643" y="193294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515" y="2042668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3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22995" y="2042668"/>
            <a:ext cx="25877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任务链路可追踪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38947" y="2362708"/>
            <a:ext cx="295351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每次分析生成任务、动作、命令和结果，结论依据可以回看。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33475" y="380746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52347" y="3917188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4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63827" y="3917188"/>
            <a:ext cx="40507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工具调用可扩展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79779" y="4237228"/>
            <a:ext cx="441655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可对接威胁情报、资产画像、日志检索、流量分析和处置工具。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91275" y="380746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147" y="3917188"/>
            <a:ext cx="329184" cy="256032"/>
          </a:xfrm>
          <a:prstGeom prst="rect">
            <a:avLst/>
          </a:prstGeom>
          <a:solidFill>
            <a:srgbClr val="0B5BD3"/>
          </a:solidFill>
          <a:ln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5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21627" y="3917188"/>
            <a:ext cx="405079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报告生成有依据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37579" y="4237228"/>
            <a:ext cx="4416552" cy="8869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基于事件档案、执行结果、阶段总结和对话历史输出结构化报告。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B8B9E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07</a:t>
            </a:r>
            <a:endParaRPr lang="en-US" sz="1400" dirty="0">
              <a:solidFill>
                <a:srgbClr val="7B8B9E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2064" y="310896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自动驾驶</a:t>
            </a:r>
            <a:r>
              <a:rPr lang="zh-CN" alt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：</a:t>
            </a: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把专家分析流程系统化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682496"/>
            <a:ext cx="128016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84448" y="1682496"/>
            <a:ext cx="128016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57216" y="1682496"/>
            <a:ext cx="128016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29984" y="1682496"/>
            <a:ext cx="128016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02752" y="1682496"/>
            <a:ext cx="128016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75520" y="1682496"/>
            <a:ext cx="128016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66928" y="1417320"/>
            <a:ext cx="1444752" cy="53035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事件上下文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39696" y="1417320"/>
            <a:ext cx="1444752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识别攻击源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与受害资产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12464" y="1417320"/>
            <a:ext cx="1444752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判断严重级别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与优先级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85232" y="1417320"/>
            <a:ext cx="1444752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生成分析任务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0" y="1417320"/>
            <a:ext cx="1444752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执行查询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证据收集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30768" y="1417320"/>
            <a:ext cx="1444752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归纳风险判断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03536" y="1417320"/>
            <a:ext cx="1444752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输出处置建议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2505456"/>
            <a:ext cx="2423160" cy="1152144"/>
          </a:xfrm>
          <a:prstGeom prst="roundRect">
            <a:avLst>
              <a:gd name="adj" fmla="val 6349"/>
            </a:avLst>
          </a:prstGeom>
          <a:solidFill>
            <a:srgbClr val="F7FB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2633472"/>
            <a:ext cx="21305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攻击源分析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4672" y="2935224"/>
            <a:ext cx="2130552" cy="6217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威胁情报、地理位置、历史行为、置信度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56432" y="2505456"/>
            <a:ext cx="2423160" cy="1152144"/>
          </a:xfrm>
          <a:prstGeom prst="roundRect">
            <a:avLst>
              <a:gd name="adj" fmla="val 6349"/>
            </a:avLst>
          </a:prstGeom>
          <a:solidFill>
            <a:srgbClr val="F7FB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633472"/>
            <a:ext cx="21305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受害资产分析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02736" y="2935224"/>
            <a:ext cx="2130552" cy="6217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资产类型、业务归属、重要程度、影响范围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54496" y="2505456"/>
            <a:ext cx="2423160" cy="1152144"/>
          </a:xfrm>
          <a:prstGeom prst="roundRect">
            <a:avLst>
              <a:gd name="adj" fmla="val 6349"/>
            </a:avLst>
          </a:prstGeom>
          <a:solidFill>
            <a:srgbClr val="F7FB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633472"/>
            <a:ext cx="21305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过程留痕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2935224"/>
            <a:ext cx="2130552" cy="6217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记录任务、动作、命令与返回结果，避免只见结论不见依据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052560" y="2505456"/>
            <a:ext cx="2423160" cy="1152144"/>
          </a:xfrm>
          <a:prstGeom prst="roundRect">
            <a:avLst>
              <a:gd name="adj" fmla="val 6349"/>
            </a:avLst>
          </a:prstGeom>
          <a:solidFill>
            <a:srgbClr val="F7FB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98864" y="2633472"/>
            <a:ext cx="213055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事实优先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98864" y="2935224"/>
            <a:ext cx="2130552" cy="6217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先形成证据，再生成风险判断与处置建议，降低误判影响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8368" y="4160520"/>
            <a:ext cx="5303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自动驾驶不是简单问答，而是把专家研判拆解为可解释链条：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41648" y="4882896"/>
            <a:ext cx="18288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340096" y="4882896"/>
            <a:ext cx="18288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38544" y="4882896"/>
            <a:ext cx="18288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36992" y="4882896"/>
            <a:ext cx="18288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2926080" y="4645152"/>
            <a:ext cx="1115568" cy="47548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任务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24528" y="4645152"/>
            <a:ext cx="1115568" cy="47548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动作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22976" y="4645152"/>
            <a:ext cx="1115568" cy="47548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命令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21424" y="4645152"/>
            <a:ext cx="1115568" cy="47548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执行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119872" y="4645152"/>
            <a:ext cx="1115568" cy="475488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总结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6928" y="5961888"/>
            <a:ext cx="10881360" cy="292608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先规划，再执行；先证据，再判断；先沉淀，再报告。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" dirty="0">
                <a:solidFill>
                  <a:srgbClr val="7B8B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380" dirty="0"/>
          </a:p>
        </p:txBody>
      </p:sp>
      <p:sp>
        <p:nvSpPr>
          <p:cNvPr id="5" name="Text 3"/>
          <p:cNvSpPr/>
          <p:nvPr/>
        </p:nvSpPr>
        <p:spPr>
          <a:xfrm>
            <a:off x="512064" y="310896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多 Agent 协同分工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298448"/>
            <a:ext cx="1874520" cy="3072384"/>
          </a:xfrm>
          <a:prstGeom prst="roundRect">
            <a:avLst>
              <a:gd name="adj" fmla="val 4390"/>
            </a:avLst>
          </a:prstGeom>
          <a:solidFill>
            <a:srgbClr val="EEF6FF"/>
          </a:solidFill>
          <a:ln w="15240">
            <a:solidFill>
              <a:srgbClr val="0B5B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499616"/>
            <a:ext cx="1508760" cy="329184"/>
          </a:xfrm>
          <a:prstGeom prst="rect">
            <a:avLst/>
          </a:prstGeom>
          <a:solidFill>
            <a:srgbClr val="0B5BD3"/>
          </a:solidFill>
          <a:ln w="6350">
            <a:solidFill>
              <a:srgbClr val="0B5BD3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Captain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195681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指挥官</a:t>
            </a:r>
            <a:endParaRPr lang="en-US" sz="1400" b="1" dirty="0">
              <a:solidFill>
                <a:srgbClr val="0B1F3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450592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读取事件上下文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确定分析方向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3401568"/>
            <a:ext cx="1362456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E6F1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分析任务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优先级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关注对象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898648" y="1298448"/>
            <a:ext cx="1874520" cy="3072384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0160">
            <a:solidFill>
              <a:srgbClr val="D9E7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1528" y="1499616"/>
            <a:ext cx="1508760" cy="329184"/>
          </a:xfrm>
          <a:prstGeom prst="rect">
            <a:avLst/>
          </a:prstGeom>
          <a:solidFill>
            <a:srgbClr val="EEF6FF"/>
          </a:solidFill>
          <a:ln w="6350">
            <a:solidFill>
              <a:srgbClr val="E6F1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Manager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81528" y="195681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安全管理员</a:t>
            </a:r>
            <a:endParaRPr lang="en-US" sz="1400" b="1" dirty="0">
              <a:solidFill>
                <a:srgbClr val="0B1F3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063240" y="2450592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把任务拆成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可执行动作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54680" y="3401568"/>
            <a:ext cx="1362456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E6F1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动作清单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执行顺序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负责人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38928" y="1298448"/>
            <a:ext cx="1874520" cy="3072384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0160">
            <a:solidFill>
              <a:srgbClr val="D9E7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499616"/>
            <a:ext cx="1508760" cy="329184"/>
          </a:xfrm>
          <a:prstGeom prst="rect">
            <a:avLst/>
          </a:prstGeom>
          <a:solidFill>
            <a:srgbClr val="EEF6FF"/>
          </a:solidFill>
          <a:ln w="6350">
            <a:solidFill>
              <a:srgbClr val="E6F1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Operator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21808" y="195681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安全工程师</a:t>
            </a:r>
            <a:endParaRPr lang="en-US" sz="1400" b="1" dirty="0">
              <a:solidFill>
                <a:srgbClr val="0B1F3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03520" y="2450592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把动作转换为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具体命令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94960" y="3401568"/>
            <a:ext cx="1362456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E6F1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查询命令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参数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目标对象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79208" y="1298448"/>
            <a:ext cx="1874520" cy="3072384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0160">
            <a:solidFill>
              <a:srgbClr val="D9E7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1499616"/>
            <a:ext cx="1508760" cy="329184"/>
          </a:xfrm>
          <a:prstGeom prst="rect">
            <a:avLst/>
          </a:prstGeom>
          <a:solidFill>
            <a:srgbClr val="EEF6FF"/>
          </a:solidFill>
          <a:ln w="6350">
            <a:solidFill>
              <a:srgbClr val="E6F1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Executor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62088" y="195681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执行器</a:t>
            </a:r>
            <a:endParaRPr lang="en-US" sz="1400" b="1" dirty="0">
              <a:solidFill>
                <a:srgbClr val="0B1F3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43800" y="2450592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执行命令并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回填结果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35240" y="3401568"/>
            <a:ext cx="1362456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E6F1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威胁情报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资产信息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执行结论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619488" y="1298448"/>
            <a:ext cx="1874520" cy="3072384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0160">
            <a:solidFill>
              <a:srgbClr val="D9E7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02368" y="1499616"/>
            <a:ext cx="1508760" cy="329184"/>
          </a:xfrm>
          <a:prstGeom prst="rect">
            <a:avLst/>
          </a:prstGeom>
          <a:solidFill>
            <a:srgbClr val="EEF6FF"/>
          </a:solidFill>
          <a:ln w="6350">
            <a:solidFill>
              <a:srgbClr val="E6F1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Expert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802368" y="1956816"/>
            <a:ext cx="15087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专家</a:t>
            </a:r>
            <a:endParaRPr lang="en-US" sz="1400" b="1" dirty="0">
              <a:solidFill>
                <a:srgbClr val="0B1F3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84080" y="2450592"/>
            <a:ext cx="1545336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汇总证据并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给出处置建议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875520" y="3401568"/>
            <a:ext cx="1362456" cy="658368"/>
          </a:xfrm>
          <a:prstGeom prst="rect">
            <a:avLst/>
          </a:prstGeom>
          <a:solidFill>
            <a:srgbClr val="F7FBFF"/>
          </a:solidFill>
          <a:ln w="6350">
            <a:solidFill>
              <a:srgbClr val="E6F1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事件总结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风险判断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后续建议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8368" y="4892040"/>
            <a:ext cx="10789920" cy="7498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每个 Agent 只负责一个明确环节，避免一个大模型直接给出不可解释结论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上一环节输出成为下一环节输入，形成可复盘的协作链条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 每个环节写入事件档案，便于前端展示、后续复盘和领导汇报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B8B9E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09</a:t>
            </a:r>
            <a:endParaRPr lang="en-US" sz="1400" dirty="0">
              <a:solidFill>
                <a:srgbClr val="7B8B9E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2064" y="310896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底层原理</a:t>
            </a:r>
            <a:r>
              <a:rPr lang="zh-CN" alt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：</a:t>
            </a: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上下文驱动的 Agent 编排机制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5149" y="1636776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98817" y="1636776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92486" y="1636776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86154" y="1636776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379823" y="1636776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73491" y="1636776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02920" y="1389888"/>
            <a:ext cx="1502229" cy="493776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事件输入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96589" y="1389888"/>
            <a:ext cx="1502229" cy="493776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上下文构建层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90257" y="1389888"/>
            <a:ext cx="1502229" cy="493776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 编排层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83926" y="1389888"/>
            <a:ext cx="1502229" cy="493776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工具调用层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77594" y="1389888"/>
            <a:ext cx="1502229" cy="493776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结果归纳层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71263" y="1389888"/>
            <a:ext cx="1502229" cy="493776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状态更新层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64931" y="1389888"/>
            <a:ext cx="1502229" cy="493776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 / 报告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96643" y="2515235"/>
            <a:ext cx="1078992" cy="256032"/>
          </a:xfrm>
          <a:prstGeom prst="rect">
            <a:avLst/>
          </a:prstGeom>
          <a:solidFill>
            <a:srgbClr val="0B5BD3"/>
          </a:solidFill>
          <a:ln w="8890"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上下文构建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" y="3018790"/>
            <a:ext cx="914400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事件信息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10512" y="3018790"/>
            <a:ext cx="914400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可观察对象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62656" y="3018790"/>
            <a:ext cx="914400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历史消息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0" y="3018790"/>
            <a:ext cx="914400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任务记录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8368" y="3521710"/>
            <a:ext cx="4343400" cy="1298448"/>
          </a:xfrm>
          <a:prstGeom prst="roundRect">
            <a:avLst>
              <a:gd name="adj" fmla="val 5634"/>
            </a:avLst>
          </a:prstGeom>
          <a:solidFill>
            <a:srgbClr val="F7FB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649726"/>
            <a:ext cx="405079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上下文构建层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04672" y="3951478"/>
            <a:ext cx="4050792" cy="76809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汇聚事件名称、描述、严重级别、攻击源、受害资产、历史消息和已有执行结果。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87085" y="2515235"/>
            <a:ext cx="1078992" cy="256032"/>
          </a:xfrm>
          <a:prstGeom prst="rect">
            <a:avLst/>
          </a:prstGeom>
          <a:solidFill>
            <a:srgbClr val="0B5BD3"/>
          </a:solidFill>
          <a:ln w="8890"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 编排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349240" y="3018790"/>
            <a:ext cx="23774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0160">
            <a:solidFill>
              <a:srgbClr val="D9E7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3146806"/>
            <a:ext cx="208483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编排层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95544" y="3448558"/>
            <a:ext cx="2084832" cy="1280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根据上下文生成任务计划，并把任务拆解成动作、命令和执行步骤。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62745" y="2529205"/>
            <a:ext cx="1078992" cy="256032"/>
          </a:xfrm>
          <a:prstGeom prst="rect">
            <a:avLst/>
          </a:prstGeom>
          <a:solidFill>
            <a:srgbClr val="0B5BD3"/>
          </a:solidFill>
          <a:ln w="8890">
            <a:solidFill>
              <a:srgbClr val="0B5BD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工具调用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787130" y="2986405"/>
            <a:ext cx="98755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威胁情报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957562" y="2986405"/>
            <a:ext cx="98755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资产画像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787130" y="3397885"/>
            <a:ext cx="98755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日志检索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957562" y="3397885"/>
            <a:ext cx="98755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流量证据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83880" y="391490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0160">
            <a:solidFill>
              <a:srgbClr val="E6F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0184" y="4042918"/>
            <a:ext cx="2953512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工具与结果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30184" y="4344670"/>
            <a:ext cx="2953512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将分析意图转换为查询能力，再对返回结果进行摘要、归因和风险判断。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66928" y="5961888"/>
            <a:ext cx="10881360" cy="292608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底层原理：事件上下文建模 + Agent 编排 + 工具执行 + 证据归纳 + 状态回写。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" dirty="0">
                <a:solidFill>
                  <a:srgbClr val="7B8B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380" dirty="0"/>
          </a:p>
        </p:txBody>
      </p:sp>
      <p:sp>
        <p:nvSpPr>
          <p:cNvPr id="5" name="Text 3"/>
          <p:cNvSpPr/>
          <p:nvPr/>
        </p:nvSpPr>
        <p:spPr>
          <a:xfrm>
            <a:off x="512064" y="310896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数据组织与可追溯机制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1655064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18688" y="1655064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90288" y="1655064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61888" y="1655064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33488" y="1655064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05088" y="1655064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076688" y="1655064"/>
            <a:ext cx="91440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66928" y="1389888"/>
            <a:ext cx="1280160" cy="53035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events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事件主档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38528" y="1389888"/>
            <a:ext cx="128016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messages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消息流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10128" y="1389888"/>
            <a:ext cx="128016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tasks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任务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81728" y="1389888"/>
            <a:ext cx="128016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actions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动作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53328" y="1389888"/>
            <a:ext cx="128016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commands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命令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424928" y="1389888"/>
            <a:ext cx="128016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executions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执行结果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96528" y="1389888"/>
            <a:ext cx="128016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summaries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阶段总结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168128" y="1389888"/>
            <a:ext cx="1280160" cy="530352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reports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分析报告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933448" y="2212467"/>
            <a:ext cx="1417320" cy="39319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数据对象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50768" y="2212467"/>
            <a:ext cx="3794760" cy="39319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保存内容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45528" y="2212467"/>
            <a:ext cx="2834640" cy="39319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作用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933448" y="2605659"/>
            <a:ext cx="14173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events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50768" y="2605659"/>
            <a:ext cx="379476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事件名称、描述、状态、严重级别、可观察对象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45528" y="2605659"/>
            <a:ext cx="28346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作为分析主线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933448" y="2998851"/>
            <a:ext cx="141732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messages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50768" y="2998851"/>
            <a:ext cx="379476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系统消息、Agent 消息、工程师对话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45528" y="2998851"/>
            <a:ext cx="283464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保存交互过程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933448" y="3392043"/>
            <a:ext cx="14173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tasks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50768" y="3392043"/>
            <a:ext cx="379476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 生成的分析任务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45528" y="3392043"/>
            <a:ext cx="28346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记录要做什么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933448" y="3785235"/>
            <a:ext cx="141732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actions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50768" y="3785235"/>
            <a:ext cx="379476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每个任务下的动作拆解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145528" y="3785235"/>
            <a:ext cx="283464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记录怎么做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933448" y="4178427"/>
            <a:ext cx="14173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commands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50768" y="4178427"/>
            <a:ext cx="379476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实际执行的查询命令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145528" y="4178427"/>
            <a:ext cx="28346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连接工具能力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933448" y="4571619"/>
            <a:ext cx="141732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executions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350768" y="4571619"/>
            <a:ext cx="379476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命令返回结果、状态、摘要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145528" y="4571619"/>
            <a:ext cx="283464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沉淀证据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933448" y="4964811"/>
            <a:ext cx="141732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summaries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350768" y="4964811"/>
            <a:ext cx="379476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阶段性分析结论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145528" y="4964811"/>
            <a:ext cx="283464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支撑报告生成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933448" y="5358003"/>
            <a:ext cx="141732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reports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350768" y="5358003"/>
            <a:ext cx="379476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最终安全分析报告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145528" y="5358003"/>
            <a:ext cx="2834640" cy="39319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面向交付和汇报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66928" y="5989320"/>
            <a:ext cx="10881360" cy="292608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这套结构让 AI 分析从一次性文本输出，变成有状态、有过程、有证据的系统能力。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B8B9E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11</a:t>
            </a:r>
            <a:endParaRPr lang="en-US" sz="1400" dirty="0">
              <a:solidFill>
                <a:srgbClr val="7B8B9E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2064" y="310896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分析报告生成机制</a:t>
            </a:r>
            <a:r>
              <a:rPr lang="zh-CN" altLang="en-US" sz="2000" b="1" dirty="0">
                <a:solidFill>
                  <a:srgbClr val="0B5B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：</a:t>
            </a: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把事件全量上下文整理成可交付成果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261872"/>
            <a:ext cx="126187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事件基础信息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627632"/>
            <a:ext cx="126187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可观察对象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1993392"/>
            <a:ext cx="126187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任务与动作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2359152"/>
            <a:ext cx="126187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命令执行结果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8368" y="2724912"/>
            <a:ext cx="126187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阶段总结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" y="3090672"/>
            <a:ext cx="126187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工程师对话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3456432"/>
            <a:ext cx="1261872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处置建议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975104" y="2651760"/>
            <a:ext cx="182880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886200" y="2121408"/>
            <a:ext cx="1920240" cy="841248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报告上下文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Context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06440" y="2651760"/>
            <a:ext cx="141732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269480" y="2029968"/>
            <a:ext cx="2148840" cy="1024128"/>
          </a:xfrm>
          <a:prstGeom prst="rect">
            <a:avLst/>
          </a:prstGeom>
          <a:solidFill>
            <a:srgbClr val="EEF6FF"/>
          </a:solidFill>
          <a:ln w="10160">
            <a:solidFill>
              <a:srgbClr val="E6F1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结构化生成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安全分析报告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Shape 17"/>
          <p:cNvSpPr/>
          <p:nvPr/>
        </p:nvSpPr>
        <p:spPr>
          <a:xfrm rot="18480000">
            <a:off x="9427210" y="1994535"/>
            <a:ext cx="845820" cy="354965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2880360"/>
            <a:ext cx="966470" cy="465455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287000" y="1755648"/>
            <a:ext cx="1143000" cy="256032"/>
          </a:xfrm>
          <a:prstGeom prst="rect">
            <a:avLst/>
          </a:prstGeom>
          <a:solidFill>
            <a:srgbClr val="0B5BD3"/>
          </a:solidFill>
          <a:ln w="8890">
            <a:solidFill>
              <a:srgbClr val="0B5BD3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安全团队报告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82250" y="3173095"/>
            <a:ext cx="1143000" cy="256032"/>
          </a:xfrm>
          <a:prstGeom prst="rect">
            <a:avLst/>
          </a:prstGeom>
          <a:solidFill>
            <a:srgbClr val="EEF6FF"/>
          </a:solidFill>
          <a:ln w="8890">
            <a:solidFill>
              <a:srgbClr val="E6F1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管理层摘要</a:t>
            </a:r>
            <a:endParaRPr lang="en-US" sz="1400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95273" y="3998722"/>
            <a:ext cx="1325880" cy="34747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报告模块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621153" y="3998722"/>
            <a:ext cx="3474720" cy="34747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内容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95873" y="3998722"/>
            <a:ext cx="3474720" cy="347472"/>
          </a:xfrm>
          <a:prstGeom prst="rect">
            <a:avLst/>
          </a:prstGeom>
          <a:solidFill>
            <a:srgbClr val="0B5BD3"/>
          </a:solidFill>
          <a:ln w="10160">
            <a:solidFill>
              <a:srgbClr val="0B5BD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优势</a:t>
            </a:r>
            <a:endParaRPr lang="en-US" sz="1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95273" y="4346194"/>
            <a:ext cx="13258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事件概览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621153" y="4346194"/>
            <a:ext cx="347472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来源、时间、严重级别、当前状态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95873" y="4346194"/>
            <a:ext cx="347472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统一汇报口径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95273" y="4693666"/>
            <a:ext cx="1325880" cy="34747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关键证据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621153" y="4693666"/>
            <a:ext cx="3474720" cy="34747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攻击源、受害资产、命中线索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95873" y="4693666"/>
            <a:ext cx="3474720" cy="34747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减少主观判断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95273" y="5041138"/>
            <a:ext cx="132588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影响分析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621153" y="5041138"/>
            <a:ext cx="347472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资产重要性、业务范围、风险等级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95873" y="5041138"/>
            <a:ext cx="3474720" cy="347472"/>
          </a:xfrm>
          <a:prstGeom prst="rect">
            <a:avLst/>
          </a:prstGeom>
          <a:solidFill>
            <a:srgbClr val="FFFF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辅助优先级排序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295273" y="5388610"/>
            <a:ext cx="1325880" cy="34747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处置建议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621153" y="5388610"/>
            <a:ext cx="3474720" cy="34747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阻断、隔离、排查、加固、复盘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095873" y="5388610"/>
            <a:ext cx="3474720" cy="347472"/>
          </a:xfrm>
          <a:prstGeom prst="rect">
            <a:avLst/>
          </a:prstGeom>
          <a:solidFill>
            <a:srgbClr val="F7FBFF"/>
          </a:solidFill>
          <a:ln w="762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形成闭环动作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6928" y="5989320"/>
            <a:ext cx="10881360" cy="292608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报告不是事后人工补材料，而是分析过程中自动沉淀材料，最终自然形成交付物。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B5BD3"/>
          </a:solidFill>
          <a:ln w="12700">
            <a:solidFill>
              <a:srgbClr val="0B5B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50040" y="6547104"/>
            <a:ext cx="256032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80" dirty="0">
                <a:solidFill>
                  <a:srgbClr val="7B8B9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380" dirty="0"/>
          </a:p>
        </p:txBody>
      </p:sp>
      <p:sp>
        <p:nvSpPr>
          <p:cNvPr id="5" name="Text 3"/>
          <p:cNvSpPr/>
          <p:nvPr/>
        </p:nvSpPr>
        <p:spPr>
          <a:xfrm>
            <a:off x="512064" y="310896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12064" y="566928"/>
            <a:ext cx="89611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让安全分析从“人找线索”变成“系统组织研判”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2064" y="1042416"/>
            <a:ext cx="10927080" cy="0"/>
          </a:xfrm>
          <a:prstGeom prst="line">
            <a:avLst/>
          </a:prstGeom>
          <a:noFill/>
          <a:ln w="12700">
            <a:solidFill>
              <a:srgbClr val="D9E7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17320"/>
            <a:ext cx="3291840" cy="310896"/>
          </a:xfrm>
          <a:prstGeom prst="rect">
            <a:avLst/>
          </a:prstGeom>
          <a:solidFill>
            <a:srgbClr val="EEF6FF"/>
          </a:solidFill>
          <a:ln w="10160">
            <a:solidFill>
              <a:srgbClr val="E6F1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对一线安全人员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3291840" cy="121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7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自动整理上下文，减少重复查询与手工记录；自动生成任务、动作、命令和总结。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62272" y="1417320"/>
            <a:ext cx="3291840" cy="310896"/>
          </a:xfrm>
          <a:prstGeom prst="rect">
            <a:avLst/>
          </a:prstGeom>
          <a:solidFill>
            <a:srgbClr val="EEF6FF"/>
          </a:solidFill>
          <a:ln w="10160">
            <a:solidFill>
              <a:srgbClr val="E6F1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对安全团队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62272" y="1801368"/>
            <a:ext cx="3291840" cy="121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7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分析路径标准化，事件过程可复盘，专家经验沉淀为自动驾驶流程。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66176" y="1417320"/>
            <a:ext cx="3291840" cy="310896"/>
          </a:xfrm>
          <a:prstGeom prst="rect">
            <a:avLst/>
          </a:prstGeom>
          <a:solidFill>
            <a:srgbClr val="EEF6FF"/>
          </a:solidFill>
          <a:ln w="10160">
            <a:solidFill>
              <a:srgbClr val="E6F1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对管理层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66176" y="1801368"/>
            <a:ext cx="3291840" cy="121615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7F7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7364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看到事件状态、分析进展、关键风险和最终结论，支撑跨事件对比。</a:t>
            </a:r>
            <a:endParaRPr lang="en-US" sz="1400" dirty="0">
              <a:solidFill>
                <a:srgbClr val="27364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3474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下一步方向</a:t>
            </a:r>
            <a:endParaRPr lang="en-US" sz="1400" b="1" dirty="0">
              <a:solidFill>
                <a:srgbClr val="0B1F3A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47822" y="4370832"/>
            <a:ext cx="20116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38444" y="4370832"/>
            <a:ext cx="20116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29066" y="4370832"/>
            <a:ext cx="201168" cy="0"/>
          </a:xfrm>
          <a:prstGeom prst="line">
            <a:avLst/>
          </a:prstGeom>
          <a:noFill/>
          <a:ln w="13970">
            <a:solidFill>
              <a:srgbClr val="D9E7F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58368" y="4069080"/>
            <a:ext cx="2489454" cy="603504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接入更多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威胁情报 / 资产画像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48990" y="4069080"/>
            <a:ext cx="2489454" cy="603504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增加人工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确认节点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39612" y="4069080"/>
            <a:ext cx="2489454" cy="603504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丰富报告模板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日报 / 周报 / 专项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30234" y="4069080"/>
            <a:ext cx="2489454" cy="603504"/>
          </a:xfrm>
          <a:prstGeom prst="rect">
            <a:avLst/>
          </a:prstGeom>
          <a:solidFill>
            <a:srgbClr val="F7FBFF"/>
          </a:solidFill>
          <a:ln w="10160">
            <a:solidFill>
              <a:srgbClr val="D9E7F7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增强风险评分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优先级排序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" y="51663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BD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CJK SC" pitchFamily="34" charset="-120"/>
              </a:rPr>
              <a:t>最终目标</a:t>
            </a:r>
            <a:endParaRPr lang="en-US" sz="1400" b="1" dirty="0">
              <a:solidFill>
                <a:srgbClr val="0B5BD3"/>
              </a:solidFill>
              <a:latin typeface="宋体" panose="02010600030101010101" pitchFamily="2" charset="-122"/>
              <a:ea typeface="宋体" panose="02010600030101010101" pitchFamily="2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8368" y="5532120"/>
            <a:ext cx="10561320" cy="292608"/>
          </a:xfrm>
          <a:prstGeom prst="rect">
            <a:avLst/>
          </a:prstGeom>
          <a:solidFill>
            <a:srgbClr val="EEF6FF"/>
          </a:solidFill>
          <a:ln w="6350">
            <a:solidFill>
              <a:srgbClr val="EEF6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3B7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将安全运营从“被动响应”逐步升级为“主动研判、自动沉淀、持续优化”的智能化能力。</a:t>
            </a:r>
            <a:endParaRPr lang="en-US" sz="1400" b="1" dirty="0">
              <a:solidFill>
                <a:srgbClr val="103B7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3109</Words>
  <Application>WPS 演示</Application>
  <PresentationFormat>On-screen Show (16:9)</PresentationFormat>
  <Paragraphs>640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JetBrainsMono NF</vt:lpstr>
      <vt:lpstr>Noto Sans CJK SC</vt:lpstr>
      <vt:lpstr>Noto Sans CJK SC</vt:lpstr>
      <vt:lpstr>微软雅黑</vt:lpstr>
      <vt:lpstr>Arial Unicode MS</vt:lpstr>
      <vt:lpstr>等线</vt:lpstr>
      <vt:lpstr>Calibri</vt:lpstr>
      <vt:lpstr>MingLiU-ExtB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流量分析业务系统汇报</dc:title>
  <dc:creator>OpenAI</dc:creator>
  <dc:subject>流量分析业务系统汇报</dc:subject>
  <cp:lastModifiedBy>lt</cp:lastModifiedBy>
  <cp:revision>3</cp:revision>
  <dcterms:created xsi:type="dcterms:W3CDTF">2026-05-19T03:47:00Z</dcterms:created>
  <dcterms:modified xsi:type="dcterms:W3CDTF">2026-05-19T05:21:29Z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81AA771069A644E0A911CDFCFA63467D_13</vt:lpwstr>
  </property>
</Properties>
</file>